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Brier improvement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9EFF5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Fed rate cut</c:v>
                  </c:pt>
                  <c:pt idx="1">
                    <c:v>Bitcoin price level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4.1</c:v>
                </c:pt>
                <c:pt idx="1">
                  <c:v>9.6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E9EFF5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A0B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1B263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0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rgbClr val="121A28"/>
        </a:solidFill>
        <a:ln>
          <a:noFill/>
        </a:ln>
        <a:effectLst/>
      </c:spPr>
    </c:plotArea>
    <c:plotVisOnly val="1"/>
    <c:dispBlanksAs val="span"/>
  </c:chart>
  <c:spPr>
    <a:solidFill>
      <a:srgbClr val="121A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pitch: CrowdArb pairs the wisdom of prediction-market crowds with professional financial markets on the SAME binary event, quantifies where they disagree, and turns that disagreement into calibrated fair values and quotes. Built for the Duke x Duke Kunshan applied-math program; live and deployed. Set the frame: 6 layers, 3 live markets, all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thesis in one slide. These two numbers are estimates of the exact same probability. The crowd (Polymarket) and the professional market (Fed funds futures) routinely disagree — here by ~21 points. Prediction markets aggregate dispersed, sometimes non-financial information; professional markets price the risk-neutral path. Neither is 'right'. CrowdArb's job is to measure the gap rigorously and act on it. Roughly 95% of Polymarket has no financial analogue (politics, sports) and is correctly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stack top to bottom — data flows down. L0 discovers priceable markets and pulls live inputs. L1 maintains a Bayesian belief and a naive quoting baseline. L2 upgrades quoting to inventory-aware Avellaneda-Stoikov. L3 blends crowd and professional sources with weights it learns online. L4 lets a news headline move the belief. L5 (new) explains all of it in plain English. Two components cut across every layer: market_pair.py defines the market abstraction and auto-discovery; dashboard_scanner.py is the live surface. Emphasize: adding a new asset only touches the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0 is deliberately self-configuring. classify_market() tags every live contract as crypto_level, rate_decision, equity_level, or unsupported using regex with word-boundary guards. Three filters gate instantiation: minimum $50k volume, at least 30 days to expiry, and a Black-Scholes probability inside a sanity band — filtering out near-certain outcomes where a crowd-vs-professional comparison tells you nothing. Within each type/underlying group the highest-volume contract wins. The payoff: supporting a new asset means extending the classifier patterns, not writing new loaders or dashboard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layers, one story: belief then quoting. L1 keeps a Beta-Bernoulli posterior whose mean is the fair value, plus a naive symmetric market-maker as the baseline. L2 is the upgrade: Avellaneda-Stoikov centres quotes on an inventory-adjusted reservation price r = p − q·γ·σ²·(T−t), so as inventory q grows the quotes lean to offload it, with a principled optimal spread. Result: 37–63% lower P&amp;L variance than naive across all three markets. Why it grows in the tails: at extreme probabilities order flow is nearly one-sided, so naive quoting piles up inventory — the inventory term is exactly what arrests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3 is the calibration engine. Instead of trusting one source, it blends both with weights learned by Hedge (online mirror descent in weight space): each source's log-weight moves by its log-likelihood after every resolved event, then we renormalise via log-sum-exp. Good forecasters gain weight; bad ones fade. Crucially the direction is data-driven — in near-50% Fed markets the blend stays balanced; in crypto tails it hands majority weight to the better-calibrated professional source. Measured by Brier score (lower = better), the blend improves calibration by ~4% on Fed and up to 9.6% on Bitcoin versus the best single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4 turns qualitative news into a quantitative move. A plain-text headline goes to Claude, which returns a structured likelihood ratio: how much more likely is this headline if the event happens versus if it doesn't. That LR is a textbook Bayesian update on the current Beta-Bernoulli belief, so a single headline shifts the fair value and therefore the quotes. It's opt-in and cheap — one call per explicit action — and scoped per market so it survives switching between markets on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5 is the new work and the one that makes the whole system legible. Previously the pipeline produced correct numbers with no explanation. Now a pure, deterministic engine reads the output of Layers 0–4 and writes one plain sentence per fact: it classifies the absolute gap against thresholds at 3, 8 and 15 points (aligned / modest / notable / large), states which source the blend trusts and why, and describes what the market-maker is doing. It ships a one-line 'Read' label for the scanner table, a 10-term jargon-free glossary wired into every tooltip, and an OPTIONAL one-click LLM narrative paragraph. The deterministic path needs no API key and respects the project's ~$2/month spend posture.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quantitative core, honestly framed. Two headline numbers, both reproducible from the repo with fixed seeds on synthetic 200-step paths (so these show the machinery's behaviour, not live trading P&amp;L). Result one: inventory-aware Avellaneda-Stoikov quoting cuts P&amp;L variance 37–63% versus naive across markets. Result two: online-weighted Bayesian blending improves Brier calibration up to 9.6% over the best single source. Note both metrics are lower-is-better. The reproducibility discipline — BACKTEST_P0 and BACKTEST_SEED constants preventing live-data leakage — is itself one of the fixes documented in the project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the metrics, the system surfaced two findings worth a quant's attention. First, on 'BTC reaches $150k' Black-Scholes implied ~0.2% while the crowd priced ~4.5% — a ~22× gap. That's not a bug: log-normal BS treats a 2.4× move as many standard deviations away, but Bitcoin's empirical returns are fat-tailed, so the crowd prices a tail the model can't. Be honest that the exact multiple depends on the vol input; the direction is robust. Second, a genuine numerical bug: near month-end FOMC meetings, the FedWatch formula divides by a tiny post-meeting day count and amplifies noise ~15×, once implying 1.74 cuts. The fix mirrors CME's published methodology and reveals the cleanest ~20-point gap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comes from stating the edges plainly. Four honest limits: (1) crypto professional probabilities inherit whatever volatility assumption feeds Black-Scholes; (2) the scanner is intentionally narrow — it only shows markets with a financial counterpart, which is a small slice of Polymarket; (3) the exact market set depends on a tunable sanity filter, which is a design choice we document rather than hide; (4) the backtests are on synthetic paths, so they validate the mechanism, not a live P&amp;L claim. A quant audience trusts a system more when it names its own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live artifact — it's deployed, not a mockup. Invite them to open the scanner during questions. Recap in one breath: crowds vs professionals on the same event, six layers from ingestion to plain-language interpretation, 37–63% lower P&amp;L variance, up to 9.6% better calibration, two genuine structural findings, all reproducible. Thank the committee and open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7452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spc="400" kern="0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CROWDARB</a:t>
            </a:r>
            <a:endParaRPr lang="en-US" sz="7000" dirty="0"/>
          </a:p>
        </p:txBody>
      </p:sp>
      <p:sp>
        <p:nvSpPr>
          <p:cNvPr id="3" name="Text 1"/>
          <p:cNvSpPr/>
          <p:nvPr/>
        </p:nvSpPr>
        <p:spPr>
          <a:xfrm>
            <a:off x="0" y="30632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cross-market probability calibration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prediction-market crowds with professional financial markets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96412" y="4206240"/>
            <a:ext cx="1225296" cy="371856"/>
          </a:xfrm>
          <a:prstGeom prst="roundRect">
            <a:avLst>
              <a:gd name="adj" fmla="val 50000"/>
            </a:avLst>
          </a:prstGeom>
          <a:solidFill>
            <a:srgbClr val="38BDF8">
              <a:alpha val="12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6412" y="4206240"/>
            <a:ext cx="1225296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Polymarket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0308" y="4206240"/>
            <a:ext cx="2231136" cy="371856"/>
          </a:xfrm>
          <a:prstGeom prst="roundRect">
            <a:avLst>
              <a:gd name="adj" fmla="val 50000"/>
            </a:avLst>
          </a:prstGeom>
          <a:solidFill>
            <a:srgbClr val="FBBF24">
              <a:alpha val="12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0308" y="4206240"/>
            <a:ext cx="2231136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CME Fed Funds Futures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10044" y="4206240"/>
            <a:ext cx="1682496" cy="371856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10044" y="4206240"/>
            <a:ext cx="1682496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Deribit options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58064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9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 Rault   ·   Duke University × Duke Kunshan — Applied Mathematics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6144768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     ·     github.com/Arisrlt46/crowdarb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</a:t>
            </a:r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68312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// THE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markets price the same event — and disagree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 "No Fed rate cut in 2026"   vs   CME Fed Funds Futures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76756" y="205740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121A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6756" y="2313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POLYMARKET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76756" y="2679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76756" y="31089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1476756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P(no cut)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88836" y="205740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121A2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8836" y="2313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88836" y="2679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futures-implied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88836" y="31089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6600" dirty="0"/>
          </a:p>
        </p:txBody>
      </p:sp>
      <p:sp>
        <p:nvSpPr>
          <p:cNvPr id="17" name="Text 15"/>
          <p:cNvSpPr/>
          <p:nvPr/>
        </p:nvSpPr>
        <p:spPr>
          <a:xfrm>
            <a:off x="6688836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P(no cut)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00116" y="26974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5200" dirty="0"/>
          </a:p>
        </p:txBody>
      </p:sp>
      <p:sp>
        <p:nvSpPr>
          <p:cNvPr id="19" name="Shape 17"/>
          <p:cNvSpPr/>
          <p:nvPr/>
        </p:nvSpPr>
        <p:spPr>
          <a:xfrm>
            <a:off x="5493258" y="3749040"/>
            <a:ext cx="1202436" cy="384556"/>
          </a:xfrm>
          <a:prstGeom prst="roundRect">
            <a:avLst>
              <a:gd name="adj" fmla="val 50000"/>
            </a:avLst>
          </a:prstGeom>
          <a:solidFill>
            <a:srgbClr val="F4726E">
              <a:alpha val="12000"/>
            </a:srgbClr>
          </a:solidFill>
          <a:ln w="15875">
            <a:solidFill>
              <a:srgbClr val="F472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93258" y="3749040"/>
            <a:ext cx="1202436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2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pt gap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disagreement is measurable — and, with a principled quoting and calibration framework, exploitable.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</a:t>
            </a:r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68312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//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layers, one fair value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498080" cy="731520"/>
          </a:xfrm>
          <a:prstGeom prst="roundRect">
            <a:avLst>
              <a:gd name="adj" fmla="val 11250"/>
            </a:avLst>
          </a:prstGeom>
          <a:solidFill>
            <a:srgbClr val="121A28"/>
          </a:solidFill>
          <a:ln w="12700">
            <a:solidFill>
              <a:srgbClr val="2230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59105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38BDF8">
              <a:alpha val="14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591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89888" y="159105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&amp; discovery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89888" y="1883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prices, implied vols, futures-derived probabilities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04288"/>
            <a:ext cx="7498080" cy="731520"/>
          </a:xfrm>
          <a:prstGeom prst="roundRect">
            <a:avLst>
              <a:gd name="adj" fmla="val 11250"/>
            </a:avLst>
          </a:prstGeom>
          <a:solidFill>
            <a:srgbClr val="121A28"/>
          </a:solidFill>
          <a:ln w="12700">
            <a:solidFill>
              <a:srgbClr val="2230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4140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414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89888" y="241401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belief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89888" y="27066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Beta-Bernoulli updater; naive market-maker baseline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27248"/>
            <a:ext cx="7498080" cy="731520"/>
          </a:xfrm>
          <a:prstGeom prst="roundRect">
            <a:avLst>
              <a:gd name="adj" fmla="val 11250"/>
            </a:avLst>
          </a:prstGeom>
          <a:solidFill>
            <a:srgbClr val="121A28"/>
          </a:solidFill>
          <a:ln w="12700">
            <a:solidFill>
              <a:srgbClr val="2230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323697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34D399">
              <a:alpha val="14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32369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89888" y="32369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Avellaneda-Stoikov quoting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89888" y="35295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Inventory-aware reservation price &amp; optimal spread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50208"/>
            <a:ext cx="7498080" cy="731520"/>
          </a:xfrm>
          <a:prstGeom prst="roundRect">
            <a:avLst>
              <a:gd name="adj" fmla="val 11250"/>
            </a:avLst>
          </a:prstGeom>
          <a:solidFill>
            <a:srgbClr val="121A28"/>
          </a:solidFill>
          <a:ln w="12700">
            <a:solidFill>
              <a:srgbClr val="2230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405993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FBBF24">
              <a:alpha val="14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4059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89888" y="405993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model averaging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89888" y="43525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Hedge weights learn which source to trust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773168"/>
            <a:ext cx="7498080" cy="731520"/>
          </a:xfrm>
          <a:prstGeom prst="roundRect">
            <a:avLst>
              <a:gd name="adj" fmla="val 11250"/>
            </a:avLst>
          </a:prstGeom>
          <a:solidFill>
            <a:srgbClr val="121A28"/>
          </a:solidFill>
          <a:ln w="12700">
            <a:solidFill>
              <a:srgbClr val="2230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88289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F4726E">
              <a:alpha val="14000"/>
            </a:srgbClr>
          </a:solidFill>
          <a:ln w="19050">
            <a:solidFill>
              <a:srgbClr val="F472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882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2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89888" y="48828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news signal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89888" y="5175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→ likelihood ratio → belief update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596128"/>
            <a:ext cx="7498080" cy="731520"/>
          </a:xfrm>
          <a:prstGeom prst="roundRect">
            <a:avLst>
              <a:gd name="adj" fmla="val 11250"/>
            </a:avLst>
          </a:prstGeom>
          <a:solidFill>
            <a:srgbClr val="10241E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" y="570585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34D399">
              <a:alpha val="14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" y="5705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89888" y="570585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engine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89888" y="5998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→ plain-language verdicts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132320" y="5797296"/>
            <a:ext cx="539496" cy="346456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0" y="5797296"/>
            <a:ext cx="539496" cy="34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75320" y="148132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75320" y="1828800"/>
            <a:ext cx="3364992" cy="1051560"/>
          </a:xfrm>
          <a:prstGeom prst="roundRect">
            <a:avLst>
              <a:gd name="adj" fmla="val 7826"/>
            </a:avLst>
          </a:prstGeom>
          <a:solidFill>
            <a:srgbClr val="121A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76488" y="199339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market_pair.py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476488" y="237744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MarketPair ABC · discover_markets()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275320" y="3063240"/>
            <a:ext cx="3364992" cy="1051560"/>
          </a:xfrm>
          <a:prstGeom prst="roundRect">
            <a:avLst>
              <a:gd name="adj" fmla="val 7826"/>
            </a:avLst>
          </a:prstGeom>
          <a:solidFill>
            <a:srgbClr val="121A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76488" y="322783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dashboard_scanner.py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476488" y="36118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multi-market scanner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275320" y="4315968"/>
            <a:ext cx="3364992" cy="1947672"/>
          </a:xfrm>
          <a:prstGeom prst="roundRect">
            <a:avLst>
              <a:gd name="adj" fmla="val 4225"/>
            </a:avLst>
          </a:prstGeom>
          <a:solidFill>
            <a:srgbClr val="0E1420"/>
          </a:solidFill>
          <a:ln w="12700">
            <a:solidFill>
              <a:srgbClr val="2230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76488" y="44805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476488" y="4800600"/>
            <a:ext cx="2962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blended fair value per market,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9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live Avellaneda-Stoikov quotes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plain-language reading of every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on the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</a:t>
            </a:r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68312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00 // INGEST &amp; DISCOVER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 — it finds its own markets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tickers. The scanner reads the entire live Polymarket catalogue on each refresh.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20574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21A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27685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3816" y="2807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~2,100 live markets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" y="3081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prices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9976" y="20574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21A2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227685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 Fed Funds Futures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62856" y="2807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ZQ implied path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2856" y="3081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decisions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9016" y="20574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21A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227685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Deribit options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11896" y="2807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DVOL implied vol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11896" y="3081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price levels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classify_market()  →  three filters before a market is priced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530602" y="4206240"/>
            <a:ext cx="1598676" cy="384556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0602" y="4206240"/>
            <a:ext cx="1598676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≥ $50k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03598" y="4206240"/>
            <a:ext cx="2193036" cy="384556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3598" y="4206240"/>
            <a:ext cx="2193036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30 days to expiry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70954" y="4206240"/>
            <a:ext cx="2787396" cy="384556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0954" y="4206240"/>
            <a:ext cx="2787396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Black-Scholes ∈ [2%, 98%]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983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priceable crowd-vs-professional pairs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936492" y="5303520"/>
            <a:ext cx="1339596" cy="409956"/>
          </a:xfrm>
          <a:prstGeom prst="roundRect">
            <a:avLst>
              <a:gd name="adj" fmla="val 50000"/>
            </a:avLst>
          </a:prstGeom>
          <a:solidFill>
            <a:srgbClr val="FBBF24">
              <a:alpha val="12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6492" y="5303520"/>
            <a:ext cx="1339596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 rates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596128" y="5303520"/>
            <a:ext cx="1110996" cy="409956"/>
          </a:xfrm>
          <a:prstGeom prst="roundRect">
            <a:avLst>
              <a:gd name="adj" fmla="val 50000"/>
            </a:avLst>
          </a:prstGeom>
          <a:solidFill>
            <a:srgbClr val="38BDF8">
              <a:alpha val="12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6128" y="5303520"/>
            <a:ext cx="1110996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Bitcoin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027164" y="5303520"/>
            <a:ext cx="1225296" cy="409956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7164" y="5303520"/>
            <a:ext cx="1225296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Ethereum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</a:t>
            </a:r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68312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01–02 // BELIEF → QUOTING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1–2 — from belief to inventory-aware quotes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212080" cy="2926080"/>
          </a:xfrm>
          <a:prstGeom prst="roundRect">
            <a:avLst>
              <a:gd name="adj" fmla="val 2813"/>
            </a:avLst>
          </a:prstGeom>
          <a:solidFill>
            <a:srgbClr val="121A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764792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64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18013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Beta-Bernoulli belief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E9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resolved outcome updates a Beta prior.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mean = the model's current fair value.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fixed-spread maker is the baseline to beat.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5212080" cy="2926080"/>
          </a:xfrm>
          <a:prstGeom prst="roundRect">
            <a:avLst>
              <a:gd name="adj" fmla="val 2813"/>
            </a:avLst>
          </a:prstGeom>
          <a:solidFill>
            <a:srgbClr val="121A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764792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34D399">
              <a:alpha val="14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764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0" y="18013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Avellaneda-Stoikov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46520" y="242316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0A0F18"/>
          </a:solidFill>
          <a:ln w="12700">
            <a:solidFill>
              <a:srgbClr val="2230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42316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p − q·γ·σ²·(T−t)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1546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9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price tilts against inventory q.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Two-component optimal spread around r.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shed risk as one-sided fills arrive.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0241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8463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−37%  to  −63%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5943600" y="4892040"/>
            <a:ext cx="5422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9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variance vs a naive fixed-spread maker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Fed rates, Bitcoin and Ethereum — the benefit is largest in the tails, where naive quoting accumulates inventory fastest.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</a:t>
            </a:r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68312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03 // CALIBRATE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— it learns which market to trust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model averaging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E9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crowd and professional probabilities are blended with weights learned online by the Hedge algorithm.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resolved event, each source's log-weight is updated by its log-likelihood, then renormalised.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well → gain weight.   Predict poorly → lose it.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weighting direction is data-driven, not hardcoded: near-50% Fed markets stay balanced; crypto tails shift weight to the better-calibrated professional source.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285232" cy="3200400"/>
          </a:xfrm>
          <a:prstGeom prst="roundRect">
            <a:avLst>
              <a:gd name="adj" fmla="val 2571"/>
            </a:avLst>
          </a:prstGeom>
          <a:solidFill>
            <a:srgbClr val="121A28"/>
          </a:solidFill>
          <a:ln w="12700">
            <a:solidFill>
              <a:srgbClr val="223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9164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improvement — blended vs best single source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92240" y="2148840"/>
          <a:ext cx="4965192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241C0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512064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 −9.6%  Brier score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583680" y="5120640"/>
            <a:ext cx="4782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algorithm adapts its trust to the market regime automatically — one calibrator, every market.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</a:t>
            </a:r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68312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04 // NEWS → SIGNAL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 — news becomes a Bayesian update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017520" cy="1417320"/>
          </a:xfrm>
          <a:prstGeom prst="roundRect">
            <a:avLst>
              <a:gd name="adj" fmla="val 5806"/>
            </a:avLst>
          </a:prstGeom>
          <a:solidFill>
            <a:srgbClr val="121A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122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"Fed officials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patience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cuts"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77640" y="1965960"/>
            <a:ext cx="2468880" cy="1417320"/>
          </a:xfrm>
          <a:prstGeom prst="roundRect">
            <a:avLst>
              <a:gd name="adj" fmla="val 5806"/>
            </a:avLst>
          </a:prstGeom>
          <a:solidFill>
            <a:srgbClr val="121A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2112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ratio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86600" y="1965960"/>
            <a:ext cx="2103120" cy="1417320"/>
          </a:xfrm>
          <a:prstGeom prst="roundRect">
            <a:avLst>
              <a:gd name="adj" fmla="val 5806"/>
            </a:avLst>
          </a:prstGeom>
          <a:solidFill>
            <a:srgbClr val="121A2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112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8660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3.2×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9646920" y="196596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121A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6920" y="21122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BELIEF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38360" y="246888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value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1965960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46520" y="1965960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89720" y="1965960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1091672" cy="685800"/>
          </a:xfrm>
          <a:prstGeom prst="roundRect">
            <a:avLst>
              <a:gd name="adj" fmla="val 9333"/>
            </a:avLst>
          </a:prstGeom>
          <a:solidFill>
            <a:srgbClr val="0A0F18"/>
          </a:solidFill>
          <a:ln w="12700">
            <a:solidFill>
              <a:srgbClr val="2230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77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2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 =  P(headline | event occurs)  /  P(headline | event does not occur)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8640" y="493776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is applied as a Bayesian update to the current belief — shifting the fair value, and with it the Avellaneda-Stoikov reservation price and spread. In the dashboard the scorer is scoped per market, so signals persist across market switches.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</a:t>
            </a:r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68312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05 // INTERPRET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 — the numbers explain themselves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60920" y="932688"/>
            <a:ext cx="585216" cy="371856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932688"/>
            <a:ext cx="585216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turns raw pipeline output into a plain-language reading — no finance degree required.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121A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212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DETAIL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606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0083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30083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410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4107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72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+21 pt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813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06240" y="3813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4297680"/>
            <a:ext cx="4846320" cy="0"/>
          </a:xfrm>
          <a:prstGeom prst="line">
            <a:avLst/>
          </a:prstGeom>
          <a:noFill/>
          <a:ln w="12700">
            <a:solidFill>
              <a:srgbClr val="2230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434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Read:  </a:t>
            </a:r>
            <a:pPr indent="0" marL="0">
              <a:buNone/>
            </a:pPr>
            <a:r>
              <a:rPr lang="en-US" sz="1400" b="1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"Crowd 21 pts high — notable divergence"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2011680"/>
            <a:ext cx="5468112" cy="3200400"/>
          </a:xfrm>
          <a:prstGeom prst="roundRect">
            <a:avLst>
              <a:gd name="adj" fmla="val 2571"/>
            </a:avLst>
          </a:prstGeom>
          <a:solidFill>
            <a:srgbClr val="121A28"/>
          </a:solidFill>
          <a:ln w="12700">
            <a:solidFill>
              <a:srgbClr val="2230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2212848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these numbers mean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2633472"/>
            <a:ext cx="49194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E9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The crowd puts the odds 21 points above the professional market — a notable gap.</a:t>
            </a:r>
            <a:endParaRPr lang="en-US" sz="13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The blend leans slightly to the professional source, which has scored better here.</a:t>
            </a:r>
            <a:endParaRPr lang="en-US" sz="13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Quotes tilt to shed inventory as fills arrive.</a:t>
            </a:r>
            <a:endParaRPr lang="en-US" sz="13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also carries a one-line glossary tooltip in the live app.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467612" y="5532120"/>
            <a:ext cx="4608576" cy="371856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67612" y="5532120"/>
            <a:ext cx="4608576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engine · thresholds 3 / 8 / 15 pp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0508" y="5532120"/>
            <a:ext cx="1773936" cy="371856"/>
          </a:xfrm>
          <a:prstGeom prst="roundRect">
            <a:avLst>
              <a:gd name="adj" fmla="val 50000"/>
            </a:avLst>
          </a:prstGeom>
          <a:solidFill>
            <a:srgbClr val="38BDF8">
              <a:alpha val="12000"/>
            </a:srgbClr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0508" y="5532120"/>
            <a:ext cx="1773936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10-term glossary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98764" y="5532120"/>
            <a:ext cx="2322576" cy="371856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98764" y="5532120"/>
            <a:ext cx="2322576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LLM narrative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</a:t>
            </a:r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68312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headline results, fully reproducible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066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3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/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93A0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Baseline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93A0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CrowdArb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93A0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Δ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9EF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· A-S — Fed  (P&amp;L var)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9EF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0.6621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9EF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0.4145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−37.4%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9EF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· A-S — Bitcoin  (P&amp;L var)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9EF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4.4339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9EF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1.7658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−60.2%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9EF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· Blend — Fed  (Brier)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9EF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0.2186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9EF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0.2095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−4.1%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9EF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· Blend — Bitcoin  (Brier)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9EF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0.0112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9EF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0.0101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−9.6%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6177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200-step price series · fixed random seeds · lower is better on both metrics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75320" y="1554480"/>
            <a:ext cx="3364992" cy="1417320"/>
          </a:xfrm>
          <a:prstGeom prst="roundRect">
            <a:avLst>
              <a:gd name="adj" fmla="val 5806"/>
            </a:avLst>
          </a:prstGeom>
          <a:solidFill>
            <a:srgbClr val="10241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0" y="169164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−37% to −63%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503920" y="23317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variance reduction — inventory-aware quoting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75320" y="3127248"/>
            <a:ext cx="3364992" cy="1417320"/>
          </a:xfrm>
          <a:prstGeom prst="roundRect">
            <a:avLst>
              <a:gd name="adj" fmla="val 5806"/>
            </a:avLst>
          </a:prstGeom>
          <a:solidFill>
            <a:srgbClr val="241C0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0" y="3264408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−9.6%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503920" y="3904488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improvement — Bayesian blending vs best single source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75320" y="4700016"/>
            <a:ext cx="3364992" cy="1426464"/>
          </a:xfrm>
          <a:prstGeom prst="roundRect">
            <a:avLst>
              <a:gd name="adj" fmla="val 5769"/>
            </a:avLst>
          </a:prstGeom>
          <a:solidFill>
            <a:srgbClr val="0E1420"/>
          </a:solidFill>
          <a:ln w="12700">
            <a:solidFill>
              <a:srgbClr val="22304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0" y="482803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503920" y="5175504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regenerates from the repo with seeded backtests; live data is never leaked into controlled comparisons.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</a:t>
            </a:r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68312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structural findings the model surfaced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17236" cy="4160520"/>
          </a:xfrm>
          <a:prstGeom prst="roundRect">
            <a:avLst>
              <a:gd name="adj" fmla="val 1978"/>
            </a:avLst>
          </a:prstGeom>
          <a:solidFill>
            <a:srgbClr val="121A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87452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38BDF8">
              <a:alpha val="14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874520"/>
            <a:ext cx="4128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Bitcoin's crowd prices a fat tail the model can't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46771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~0.2%</a:t>
            </a:r>
            <a:pPr algn="ctr" indent="0" marL="0">
              <a:buNone/>
            </a:pPr>
            <a:r>
              <a:rPr lang="en-US" sz="2600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vs   </a:t>
            </a:r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~4.5%</a:t>
            </a:r>
            <a:pPr algn="ctr" indent="0" marL="0">
              <a:buNone/>
            </a:pPr>
            <a:r>
              <a:rPr lang="en-US" sz="2600" b="1" dirty="0">
                <a:solidFill>
                  <a:srgbClr val="F4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(~22×)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8680" y="3291840"/>
            <a:ext cx="4677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Black-Scholes  vs  Polymarket   on  "BTC reaches $150k"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3749040"/>
            <a:ext cx="46771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9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Log-normal Black-Scholes treats a 2.4× move as many σ away — near-impossible.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Bitcoin's real returns have fat tails; the crowd, schooled by violent moves, prices that tail. The model structurally cannot.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is a signature of a model assumption failing — not noise.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3076" y="1600200"/>
            <a:ext cx="5317236" cy="4160520"/>
          </a:xfrm>
          <a:prstGeom prst="roundRect">
            <a:avLst>
              <a:gd name="adj" fmla="val 1978"/>
            </a:avLst>
          </a:prstGeom>
          <a:solidFill>
            <a:srgbClr val="121A2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97396" y="187452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BBF24">
              <a:alpha val="14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97396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02068" y="1874520"/>
            <a:ext cx="3945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day-count instability in the naive FedWatch formula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43116" y="2697480"/>
            <a:ext cx="46771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×15.5</a:t>
            </a:r>
            <a:pPr algn="ctr" indent="0" marL="0">
              <a:buNone/>
            </a:pPr>
            <a:r>
              <a:rPr lang="en-US" sz="2200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noise amplification  →  </a:t>
            </a:r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pt</a:t>
            </a:r>
            <a:pPr algn="ctr" indent="0" marL="0">
              <a:buNone/>
            </a:pPr>
            <a:r>
              <a:rPr lang="en-US" sz="2200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clean gap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43116" y="3291840"/>
            <a:ext cx="4677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month-end meeting  →  tiny post-meeting day count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43116" y="3749040"/>
            <a:ext cx="46771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9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month-end, recovering the post-meeting rate divides by a near-zero day count, exploding input noise (once implied 1.74 cuts).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follows CME's own method: read the next-month contract when &lt; 5 post-meeting days remain.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Post-fix, the Fed pair reveals the project's clearest crowd-vs-professional gap.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</a:t>
            </a:r>
            <a:pPr indent="0" marL="0">
              <a:buNone/>
            </a:pPr>
            <a:r>
              <a:rPr lang="en-US" sz="1300" b="1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68312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— where the edges are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17236" cy="1965960"/>
          </a:xfrm>
          <a:prstGeom prst="roundRect">
            <a:avLst>
              <a:gd name="adj" fmla="val 4186"/>
            </a:avLst>
          </a:prstGeom>
          <a:solidFill>
            <a:srgbClr val="121A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19656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Volatility-dependent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7685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crypto probabilities are only as good as the Deribit / realised-vol input they inherit.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3076" y="1600200"/>
            <a:ext cx="5317236" cy="1965960"/>
          </a:xfrm>
          <a:prstGeom prst="roundRect">
            <a:avLst>
              <a:gd name="adj" fmla="val 4186"/>
            </a:avLst>
          </a:prstGeom>
          <a:solidFill>
            <a:srgbClr val="121A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7396" y="1819656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by design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7396" y="2286000"/>
            <a:ext cx="47685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markets with a computable financial counterpart appear — Fed rates and BTC/ETH levels. ~95% of Polymarket has no analogue and is excluded.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17236" cy="1965960"/>
          </a:xfrm>
          <a:prstGeom prst="roundRect">
            <a:avLst>
              <a:gd name="adj" fmla="val 4186"/>
            </a:avLst>
          </a:prstGeom>
          <a:solidFill>
            <a:srgbClr val="121A2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05656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tunable filter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47685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markets shown depends on a Black-Scholes sanity band (currently 0.5%–98%). That's a design parameter, documented as such — not a property of the data.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23076" y="3886200"/>
            <a:ext cx="5317236" cy="1965960"/>
          </a:xfrm>
          <a:prstGeom prst="roundRect">
            <a:avLst>
              <a:gd name="adj" fmla="val 4186"/>
            </a:avLst>
          </a:prstGeom>
          <a:solidFill>
            <a:srgbClr val="121A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7396" y="4105656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backtests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97396" y="4572000"/>
            <a:ext cx="47685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run on seeded synthetic paths around the blended prior. They demonstrate the machinery's behaviour, not live trading P&amp;L.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830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400" kern="0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CROWDARB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now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568196" y="3657600"/>
            <a:ext cx="4297680" cy="914400"/>
          </a:xfrm>
          <a:prstGeom prst="roundRect">
            <a:avLst>
              <a:gd name="adj" fmla="val 9000"/>
            </a:avLst>
          </a:prstGeom>
          <a:solidFill>
            <a:srgbClr val="121A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68196" y="3657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 </a:t>
            </a:r>
            <a:pPr algn="ctr" indent="0" marL="0">
              <a:buNone/>
            </a:pPr>
            <a:r>
              <a:rPr lang="en-US" sz="1600" b="1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23076" y="3657600"/>
            <a:ext cx="4297680" cy="914400"/>
          </a:xfrm>
          <a:prstGeom prst="roundRect">
            <a:avLst>
              <a:gd name="adj" fmla="val 9000"/>
            </a:avLst>
          </a:prstGeom>
          <a:solidFill>
            <a:srgbClr val="121A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23076" y="3657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⌥  </a:t>
            </a:r>
            <a:pPr algn="ctr" indent="0" marL="0">
              <a:buNone/>
            </a:pPr>
            <a:r>
              <a:rPr lang="en-US" sz="1500" b="1" dirty="0">
                <a:solidFill>
                  <a:srgbClr val="E9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github.com/Arisrlt46/crowdarb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 Rault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54406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 University × Duke Kunshan — Applied Mathematics &amp; Computational Sciences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CrowdArb — cross-market probability calibration</dc:title>
  <dc:subject>PptxGenJS Presentation</dc:subject>
  <dc:creator>Aris Rault</dc:creator>
  <cp:lastModifiedBy>Aris Rault</cp:lastModifiedBy>
  <cp:revision>1</cp:revision>
  <dcterms:created xsi:type="dcterms:W3CDTF">2026-07-03T13:27:39Z</dcterms:created>
  <dcterms:modified xsi:type="dcterms:W3CDTF">2026-07-03T13:27:39Z</dcterms:modified>
</cp:coreProperties>
</file>